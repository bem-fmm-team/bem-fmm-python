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26" r:id="rId3"/>
    <p:sldId id="325" r:id="rId4"/>
    <p:sldId id="328" r:id="rId5"/>
    <p:sldId id="327" r:id="rId6"/>
    <p:sldId id="330" r:id="rId7"/>
    <p:sldId id="331" r:id="rId8"/>
    <p:sldId id="332" r:id="rId9"/>
    <p:sldId id="333" r:id="rId10"/>
    <p:sldId id="334" r:id="rId11"/>
    <p:sldId id="337" r:id="rId12"/>
    <p:sldId id="335" r:id="rId13"/>
    <p:sldId id="3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E0554D-E274-46AA-8EC9-6C278CD2BA1B}">
          <p14:sldIdLst>
            <p14:sldId id="256"/>
            <p14:sldId id="326"/>
            <p14:sldId id="325"/>
            <p14:sldId id="328"/>
            <p14:sldId id="327"/>
            <p14:sldId id="330"/>
            <p14:sldId id="331"/>
            <p14:sldId id="332"/>
            <p14:sldId id="333"/>
            <p14:sldId id="334"/>
            <p14:sldId id="337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A75645-577C-AE82-9F6B-01D3CC3E997D}" name="Drumm, Derek" initials="DD" userId="S-1-5-21-1029987154-1330733110-326569147-1510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C8F1"/>
    <a:srgbClr val="0069B9"/>
    <a:srgbClr val="E07040"/>
    <a:srgbClr val="79AD34"/>
    <a:srgbClr val="A0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0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7E3C08-A30E-28E6-7DE2-0A5FE2BD5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3904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A1D3918-8A9A-8CE6-AF79-5F7D91ECB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 r="-4798" b="24444"/>
          <a:stretch>
            <a:fillRect/>
          </a:stretch>
        </p:blipFill>
        <p:spPr bwMode="auto">
          <a:xfrm>
            <a:off x="838200" y="4925715"/>
            <a:ext cx="2747736" cy="108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B4F7C91-D462-919F-634E-68A6B018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314"/>
            <a:ext cx="10515600" cy="15729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47B930D-14B1-6AFE-66E6-55888F71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5461E-EACD-4D51-9689-0DF3CD4BDC4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907B9F0-6DDC-FDEF-24FA-5B196EB6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FE4127C-DDBA-837F-FE8E-097F6984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646C5-A078-4DB2-84C5-99DF95702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86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C628B-4EA5-E550-5B45-26289A1A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646C5-A078-4DB2-84C5-99DF957021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016DC2B2-7712-259E-97B0-98E629BA346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71522" y="6599231"/>
            <a:ext cx="2020478" cy="258769"/>
          </a:xfrm>
        </p:spPr>
        <p:txBody>
          <a:bodyPr/>
          <a:lstStyle/>
          <a:p>
            <a:fld id="{CAC5461E-EACD-4D51-9689-0DF3CD4BDC4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CC9960-3066-A5CB-5A27-534C9BA5FEE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5B60904-28B0-6D9B-7919-C2EBE8F8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7745"/>
            <a:ext cx="8842342" cy="12842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17739-72AD-27F8-8C65-F6246CBE49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611313"/>
            <a:ext cx="8842375" cy="4572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84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F2466-19F9-5CB8-1CA1-6978DD11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780D9-BA6D-1D8C-101D-41D129BDF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15C27-B39A-0DB7-D072-208FF5E482E0}"/>
              </a:ext>
            </a:extLst>
          </p:cNvPr>
          <p:cNvSpPr/>
          <p:nvPr/>
        </p:nvSpPr>
        <p:spPr>
          <a:xfrm>
            <a:off x="0" y="-1"/>
            <a:ext cx="12192000" cy="3277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30F692-2F5A-0A14-5F9D-BD2B985522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 r="-4798" b="24444"/>
          <a:stretch>
            <a:fillRect/>
          </a:stretch>
        </p:blipFill>
        <p:spPr bwMode="auto">
          <a:xfrm>
            <a:off x="0" y="6599231"/>
            <a:ext cx="634738" cy="2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3D244-C7A3-90FA-280D-86AB4C23B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"/>
            <a:ext cx="2743200" cy="32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54646C5-A078-4DB2-84C5-99DF9570211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EBBB9A-BB7D-D8ED-94D0-85E7CC0B7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71522" y="6599231"/>
            <a:ext cx="2020478" cy="258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AC5461E-EACD-4D51-9689-0DF3CD4BDC4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59B3EE-01F1-85E7-6608-5667EDD8C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4295"/>
            <a:ext cx="4114800" cy="3234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8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1D3D7B-82D1-60CB-9FAB-FFC76E3FF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3904"/>
            <a:ext cx="9144000" cy="27018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Derek A. Drumm</a:t>
            </a:r>
            <a:r>
              <a:rPr lang="en-US" dirty="0">
                <a:solidFill>
                  <a:schemeClr val="accent1"/>
                </a:solidFill>
              </a:rPr>
              <a:t>, Guillermo Núñez </a:t>
            </a:r>
            <a:r>
              <a:rPr lang="en-US" dirty="0" err="1">
                <a:solidFill>
                  <a:schemeClr val="accent1"/>
                </a:solidFill>
              </a:rPr>
              <a:t>Ponasso</a:t>
            </a:r>
            <a:r>
              <a:rPr lang="en-US" dirty="0">
                <a:solidFill>
                  <a:schemeClr val="accent1"/>
                </a:solidFill>
              </a:rPr>
              <a:t>, </a:t>
            </a:r>
          </a:p>
          <a:p>
            <a:r>
              <a:rPr lang="en-US" dirty="0">
                <a:solidFill>
                  <a:schemeClr val="accent1"/>
                </a:solidFill>
              </a:rPr>
              <a:t>Shawn Pande, Simon Hao</a:t>
            </a:r>
          </a:p>
          <a:p>
            <a:r>
              <a:rPr lang="en-US" sz="1800" i="1" dirty="0">
                <a:solidFill>
                  <a:schemeClr val="accent1"/>
                </a:solidFill>
              </a:rPr>
              <a:t>Department of Electrical &amp; Computer Engineering</a:t>
            </a:r>
          </a:p>
          <a:p>
            <a:r>
              <a:rPr lang="en-US" sz="1800" i="1" dirty="0">
                <a:solidFill>
                  <a:schemeClr val="accent1"/>
                </a:solidFill>
              </a:rPr>
              <a:t>Worcester Polytechnic Institute</a:t>
            </a:r>
          </a:p>
          <a:p>
            <a:endParaRPr lang="en-US" dirty="0"/>
          </a:p>
          <a:p>
            <a:r>
              <a:rPr lang="en-US" dirty="0"/>
              <a:t>08/01/26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6948B-56A5-5A40-DE56-1E6C90CE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BEM-FMM in Python: Up and Running in 10 Minutes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D5D4EE-829E-99DC-9B27-0E8825044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8900" y="4820967"/>
            <a:ext cx="2060583" cy="544507"/>
          </a:xfrm>
          <a:prstGeom prst="rect">
            <a:avLst/>
          </a:prstGeom>
        </p:spPr>
      </p:pic>
      <p:pic>
        <p:nvPicPr>
          <p:cNvPr id="6" name="Graphic 5" descr="National Instititue of Biomedical Imaging and Bioengineering (NIBIB), Home">
            <a:extLst>
              <a:ext uri="{FF2B5EF4-FFF2-40B4-BE49-F238E27FC236}">
                <a16:creationId xmlns:a16="http://schemas.microsoft.com/office/drawing/2014/main" id="{E65BB74E-0A18-B5AA-B735-FCE920833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6237" r="43217" b="-1"/>
          <a:stretch>
            <a:fillRect/>
          </a:stretch>
        </p:blipFill>
        <p:spPr>
          <a:xfrm>
            <a:off x="9378900" y="5751792"/>
            <a:ext cx="2578199" cy="659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4DB22C-6A0D-A998-AB54-48A1BA843FB8}"/>
              </a:ext>
            </a:extLst>
          </p:cNvPr>
          <p:cNvSpPr txBox="1"/>
          <p:nvPr/>
        </p:nvSpPr>
        <p:spPr>
          <a:xfrm>
            <a:off x="9322753" y="6347330"/>
            <a:ext cx="257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1R01EB035484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8576AC-6A4C-F7DD-F8B3-A2D26B562B72}"/>
              </a:ext>
            </a:extLst>
          </p:cNvPr>
          <p:cNvSpPr txBox="1"/>
          <p:nvPr/>
        </p:nvSpPr>
        <p:spPr>
          <a:xfrm>
            <a:off x="9298689" y="5314893"/>
            <a:ext cx="257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1R01MH130490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01F20-6E06-1020-B9FC-3DDAC18BD949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856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2C17-4638-EF81-3F87-FCFF3694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B4A97-3519-0F2A-E4B6-D6A2BF5BD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14" y="3821256"/>
            <a:ext cx="2693568" cy="2708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EB545A-0B9D-A421-813E-A64ABA04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180" y="480763"/>
            <a:ext cx="2948237" cy="2948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E42FE9-13B1-25AC-DB6A-649CB167F5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55"/>
          <a:stretch>
            <a:fillRect/>
          </a:stretch>
        </p:blipFill>
        <p:spPr>
          <a:xfrm>
            <a:off x="187003" y="2145446"/>
            <a:ext cx="2851987" cy="2796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A2A56-2E3C-AC7C-62FF-517D4A89E1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495" b="1411"/>
          <a:stretch>
            <a:fillRect/>
          </a:stretch>
        </p:blipFill>
        <p:spPr>
          <a:xfrm>
            <a:off x="8330681" y="480763"/>
            <a:ext cx="2760726" cy="29482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139520-2AC2-DE0C-201D-0B8BBAB0B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1835" y="3714494"/>
            <a:ext cx="3518417" cy="29225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8EE48-85AE-58E5-EFB6-2CB5368C4E1C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996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A9285F-0834-7E41-DE66-3612FB40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30853"/>
            <a:ext cx="11357812" cy="617023"/>
          </a:xfrm>
        </p:spPr>
        <p:txBody>
          <a:bodyPr>
            <a:normAutofit/>
          </a:bodyPr>
          <a:lstStyle/>
          <a:p>
            <a:r>
              <a:rPr lang="en-US" dirty="0"/>
              <a:t>Downloading the Repository: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163D2DB-2EE8-C760-1487-C0578A2B77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1" y="1551463"/>
            <a:ext cx="12192000" cy="4969651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The repository may be obtained on GitHub: </a:t>
            </a:r>
            <a:r>
              <a:rPr lang="en-US" sz="2100" b="1" dirty="0">
                <a:solidFill>
                  <a:srgbClr val="C00000"/>
                </a:solidFill>
              </a:rPr>
              <a:t>github.com/BEM-FMM-Team/</a:t>
            </a:r>
            <a:r>
              <a:rPr lang="en-US" sz="2100" b="1" dirty="0" err="1">
                <a:solidFill>
                  <a:srgbClr val="C00000"/>
                </a:solidFill>
              </a:rPr>
              <a:t>bem</a:t>
            </a:r>
            <a:r>
              <a:rPr lang="en-US" sz="2100" b="1" dirty="0">
                <a:solidFill>
                  <a:srgbClr val="C00000"/>
                </a:solidFill>
              </a:rPr>
              <a:t>-</a:t>
            </a:r>
            <a:r>
              <a:rPr lang="en-US" sz="2100" b="1" dirty="0" err="1">
                <a:solidFill>
                  <a:srgbClr val="C00000"/>
                </a:solidFill>
              </a:rPr>
              <a:t>fmm</a:t>
            </a:r>
            <a:r>
              <a:rPr lang="en-US" sz="2100" b="1" dirty="0">
                <a:solidFill>
                  <a:srgbClr val="C00000"/>
                </a:solidFill>
              </a:rPr>
              <a:t>-python</a:t>
            </a:r>
            <a:endParaRPr lang="en-US" sz="2100" dirty="0"/>
          </a:p>
          <a:p>
            <a:r>
              <a:rPr lang="en-US" sz="2400" dirty="0"/>
              <a:t>The repository can be cloned via git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or downloaded directly </a:t>
            </a:r>
          </a:p>
          <a:p>
            <a:pPr marL="0" indent="0">
              <a:buNone/>
            </a:pPr>
            <a:r>
              <a:rPr lang="en-US" sz="2400" dirty="0"/>
              <a:t>  (be sure to </a:t>
            </a:r>
            <a:r>
              <a:rPr lang="en-US" sz="2400" u="sng" dirty="0"/>
              <a:t>Extract</a:t>
            </a:r>
            <a:r>
              <a:rPr lang="en-US" sz="2400" dirty="0"/>
              <a:t> the download folder)!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91569-5262-ABDE-155F-E141C3F32F15}"/>
              </a:ext>
            </a:extLst>
          </p:cNvPr>
          <p:cNvSpPr txBox="1"/>
          <p:nvPr/>
        </p:nvSpPr>
        <p:spPr>
          <a:xfrm>
            <a:off x="96253" y="2472183"/>
            <a:ext cx="11261558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ea typeface="FangSong" panose="020B0503020204020204" pitchFamily="49" charset="-122"/>
                <a:cs typeface="Miriam Fixed" panose="020F0502020204030204" pitchFamily="49" charset="-79"/>
              </a:rPr>
              <a:t>git clone https://github.com/BEM-FMM-Team/bem-fmm-python.git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B3D3B-226A-C95A-2BB3-FF5726A9F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3" y="3941509"/>
            <a:ext cx="4872824" cy="2619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0A28D3-5491-C116-172F-6C43E9E9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85" y="3360353"/>
            <a:ext cx="3769894" cy="341053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3B77837-50CC-D498-3F1E-6BC1EFD14A6A}"/>
              </a:ext>
            </a:extLst>
          </p:cNvPr>
          <p:cNvSpPr/>
          <p:nvPr/>
        </p:nvSpPr>
        <p:spPr>
          <a:xfrm>
            <a:off x="4211053" y="4171506"/>
            <a:ext cx="774066" cy="529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E30193-F543-B0E7-706B-A401689AA80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598086" y="3568899"/>
            <a:ext cx="1834799" cy="6026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BBC139-2FD1-F9CA-58FE-F5E358FBC02F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4598086" y="4700895"/>
            <a:ext cx="1818757" cy="20699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5D6FCE0-B639-C450-CAF7-FDBA9958F4F5}"/>
              </a:ext>
            </a:extLst>
          </p:cNvPr>
          <p:cNvSpPr/>
          <p:nvPr/>
        </p:nvSpPr>
        <p:spPr>
          <a:xfrm>
            <a:off x="6663228" y="6257540"/>
            <a:ext cx="1255261" cy="529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1A314D-CD1C-3F7C-5071-D98798D2849B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C966D76-14FF-32C5-B271-9216C787E429}"/>
              </a:ext>
            </a:extLst>
          </p:cNvPr>
          <p:cNvSpPr txBox="1">
            <a:spLocks/>
          </p:cNvSpPr>
          <p:nvPr/>
        </p:nvSpPr>
        <p:spPr>
          <a:xfrm>
            <a:off x="1130968" y="1023466"/>
            <a:ext cx="9649327" cy="4712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***Requirement: You will need Python 3.11+ installed!***</a:t>
            </a:r>
          </a:p>
        </p:txBody>
      </p:sp>
    </p:spTree>
    <p:extLst>
      <p:ext uri="{BB962C8B-B14F-4D97-AF65-F5344CB8AC3E}">
        <p14:creationId xmlns:p14="http://schemas.microsoft.com/office/powerpoint/2010/main" val="228266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91FF-230D-C624-2F8A-FFB646CD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D79343-A50E-22C7-48B5-D81EA3A3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6081"/>
            <a:ext cx="8229601" cy="708529"/>
          </a:xfrm>
        </p:spPr>
        <p:txBody>
          <a:bodyPr>
            <a:normAutofit/>
          </a:bodyPr>
          <a:lstStyle/>
          <a:p>
            <a:r>
              <a:rPr lang="en-US" dirty="0"/>
              <a:t>Getting Started: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30BFFC2-1464-D6A8-6A92-B8456BAC05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1" y="1294791"/>
            <a:ext cx="11950811" cy="5290493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You can now start playing around with the TMS navigator:</a:t>
            </a:r>
          </a:p>
          <a:p>
            <a:pPr marL="0" indent="0">
              <a:buNone/>
            </a:pPr>
            <a:r>
              <a:rPr lang="en-US" sz="2400" u="sng" dirty="0"/>
              <a:t>Windows (most stable):</a:t>
            </a:r>
          </a:p>
          <a:p>
            <a:pPr marL="0" indent="0">
              <a:buNone/>
            </a:pPr>
            <a:r>
              <a:rPr lang="en-US" sz="2400" dirty="0"/>
              <a:t>Execute the “run.bat” file.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Mac (may be unstable):</a:t>
            </a:r>
          </a:p>
          <a:p>
            <a:pPr marL="0" indent="0">
              <a:buNone/>
            </a:pPr>
            <a:r>
              <a:rPr lang="en-US" sz="2400" dirty="0"/>
              <a:t>Execute the “</a:t>
            </a:r>
            <a:r>
              <a:rPr lang="en-US" sz="2400" dirty="0" err="1"/>
              <a:t>run.command</a:t>
            </a:r>
            <a:r>
              <a:rPr lang="en-US" sz="2400" dirty="0"/>
              <a:t>” file.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Linux:</a:t>
            </a:r>
          </a:p>
          <a:p>
            <a:pPr marL="0" indent="0">
              <a:buNone/>
            </a:pPr>
            <a:r>
              <a:rPr lang="en-US" sz="2400" dirty="0"/>
              <a:t>You will need to install </a:t>
            </a:r>
            <a:r>
              <a:rPr lang="en-US" sz="2400" dirty="0" err="1">
                <a:latin typeface="Consolas" panose="020B0609020204030204" pitchFamily="49" charset="0"/>
              </a:rPr>
              <a:t>uv</a:t>
            </a:r>
            <a:r>
              <a:rPr lang="en-US" sz="2400" dirty="0"/>
              <a:t> and ensure it is on the </a:t>
            </a:r>
            <a:r>
              <a:rPr lang="en-US" sz="2400" dirty="0">
                <a:latin typeface="Consolas" panose="020B0609020204030204" pitchFamily="49" charset="0"/>
              </a:rPr>
              <a:t>$PATH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Then run “</a:t>
            </a:r>
            <a:r>
              <a:rPr lang="en-US" sz="2400" dirty="0" err="1"/>
              <a:t>run.command</a:t>
            </a:r>
            <a:r>
              <a:rPr lang="en-US" sz="2400" dirty="0"/>
              <a:t>” or proceed with </a:t>
            </a:r>
            <a:r>
              <a:rPr lang="en-US" sz="2400" dirty="0">
                <a:latin typeface="Consolas" panose="020B0609020204030204" pitchFamily="49" charset="0"/>
              </a:rPr>
              <a:t>Nix</a:t>
            </a:r>
            <a:r>
              <a:rPr lang="en-US" sz="2400" dirty="0"/>
              <a:t> (there is a </a:t>
            </a:r>
            <a:r>
              <a:rPr lang="en-US" sz="2400" dirty="0" err="1"/>
              <a:t>devShell</a:t>
            </a:r>
            <a:r>
              <a:rPr lang="en-US" sz="2400" dirty="0"/>
              <a:t> which will place you in an isolated environment to run everything).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4CF629-6C44-E70E-709D-63281CE52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632" y="1887799"/>
            <a:ext cx="1657581" cy="112410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BB9C0A-A348-5ED2-DA35-19F2139F898B}"/>
              </a:ext>
            </a:extLst>
          </p:cNvPr>
          <p:cNvCxnSpPr>
            <a:cxnSpLocks/>
          </p:cNvCxnSpPr>
          <p:nvPr/>
        </p:nvCxnSpPr>
        <p:spPr>
          <a:xfrm>
            <a:off x="3674201" y="2389696"/>
            <a:ext cx="1095919" cy="582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3F8197C-6297-B263-FC93-75DAC31DE4B2}"/>
              </a:ext>
            </a:extLst>
          </p:cNvPr>
          <p:cNvSpPr/>
          <p:nvPr/>
        </p:nvSpPr>
        <p:spPr>
          <a:xfrm>
            <a:off x="4834633" y="2279407"/>
            <a:ext cx="1037338" cy="3809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0D6B31-FEC1-55DB-C02D-46CCBEE28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425" y="3293484"/>
            <a:ext cx="1657581" cy="112410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4CC727-D179-2A2D-B8AC-C3B9E2D0EDBA}"/>
              </a:ext>
            </a:extLst>
          </p:cNvPr>
          <p:cNvCxnSpPr>
            <a:cxnSpLocks/>
          </p:cNvCxnSpPr>
          <p:nvPr/>
        </p:nvCxnSpPr>
        <p:spPr>
          <a:xfrm>
            <a:off x="4670952" y="3785938"/>
            <a:ext cx="1099293" cy="4412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29557C9-A1F5-BE63-5E41-06A546C5F18E}"/>
              </a:ext>
            </a:extLst>
          </p:cNvPr>
          <p:cNvSpPr/>
          <p:nvPr/>
        </p:nvSpPr>
        <p:spPr>
          <a:xfrm>
            <a:off x="5831383" y="4036594"/>
            <a:ext cx="1323395" cy="3809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848BC94-45F4-5A26-99A8-D155A0E58179}"/>
              </a:ext>
            </a:extLst>
          </p:cNvPr>
          <p:cNvSpPr txBox="1">
            <a:spLocks/>
          </p:cNvSpPr>
          <p:nvPr/>
        </p:nvSpPr>
        <p:spPr>
          <a:xfrm>
            <a:off x="8517800" y="1887799"/>
            <a:ext cx="3440473" cy="263892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numCol="1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Note:</a:t>
            </a:r>
            <a:r>
              <a:rPr lang="en-US" sz="2400" dirty="0"/>
              <a:t> All dependencies should be downloaded and installed automatically.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ym typeface="Wingdings" panose="05000000000000000000" pitchFamily="2" charset="2"/>
              </a:rPr>
              <a:t> Depending on your machine, this can take upwards of 5 minutes!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F1C07-C577-F97E-E5A8-44BB517E4AA6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67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7" grpId="0" animBg="1"/>
      <p:bldP spid="24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170C-8EF4-7778-1112-DE6205DE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CFADE4D-5304-EA4A-F136-6E8991D47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93" y="1371600"/>
            <a:ext cx="5419072" cy="429029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6022859-77B5-2D18-C6FF-3E3895DF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54481"/>
            <a:ext cx="8229601" cy="681839"/>
          </a:xfrm>
        </p:spPr>
        <p:txBody>
          <a:bodyPr>
            <a:normAutofit/>
          </a:bodyPr>
          <a:lstStyle/>
          <a:p>
            <a:r>
              <a:rPr lang="en-US" dirty="0"/>
              <a:t>What to Expect: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3C4216-5B6C-DA1B-675C-65DC540D5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90" y="4714240"/>
            <a:ext cx="2791873" cy="2143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F8E392-3992-FBF5-3DD5-38076994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036320"/>
            <a:ext cx="3421044" cy="3429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834E106-7731-DB7B-77B5-A52E71485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735" y="3810561"/>
            <a:ext cx="3421044" cy="27836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4B4CB4D-78B6-2E25-A6C0-238336265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4075" y="1247439"/>
            <a:ext cx="1867925" cy="180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F7442AD-97FF-40EE-EC3B-A591ED5FB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079" y="1247439"/>
            <a:ext cx="1564995" cy="18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E15624-F68D-D7B1-C2DE-84F540C2A9A1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076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3C873-74ED-8128-8A7D-A703F314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667769-1D84-A549-DCD1-597E1E50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864"/>
            <a:ext cx="9119937" cy="745958"/>
          </a:xfrm>
        </p:spPr>
        <p:txBody>
          <a:bodyPr>
            <a:normAutofit/>
          </a:bodyPr>
          <a:lstStyle/>
          <a:p>
            <a:r>
              <a:rPr lang="en-US" dirty="0"/>
              <a:t>Setting Up a TMS Coil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2F0264-E97C-E5F4-025B-7748961CF9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074821"/>
            <a:ext cx="4692316" cy="5285873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Once the navigator has loaded, we can begin by adding a coil.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1) Click “Add Coil” and then click “Ok” to add a ring coil.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* You may double click on the name to rename the coil.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2) Click “Edit” to begin modifying the coil position and orientation.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6DDB8E-B445-897F-C54D-64D7EDF3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828" y="1209909"/>
            <a:ext cx="7507172" cy="521896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4FC5A9-AF66-DA52-245A-05E948CF3812}"/>
              </a:ext>
            </a:extLst>
          </p:cNvPr>
          <p:cNvCxnSpPr>
            <a:cxnSpLocks/>
          </p:cNvCxnSpPr>
          <p:nvPr/>
        </p:nvCxnSpPr>
        <p:spPr>
          <a:xfrm flipV="1">
            <a:off x="4572000" y="2245895"/>
            <a:ext cx="617621" cy="2566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FA4C2A-9F2A-8564-3B88-F9C9B119A8D4}"/>
              </a:ext>
            </a:extLst>
          </p:cNvPr>
          <p:cNvCxnSpPr>
            <a:cxnSpLocks/>
          </p:cNvCxnSpPr>
          <p:nvPr/>
        </p:nvCxnSpPr>
        <p:spPr>
          <a:xfrm flipV="1">
            <a:off x="3878712" y="3039979"/>
            <a:ext cx="926432" cy="5173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1C0F9D-1AC4-26F7-462A-72229A002731}"/>
              </a:ext>
            </a:extLst>
          </p:cNvPr>
          <p:cNvCxnSpPr>
            <a:cxnSpLocks/>
          </p:cNvCxnSpPr>
          <p:nvPr/>
        </p:nvCxnSpPr>
        <p:spPr>
          <a:xfrm flipV="1">
            <a:off x="3681663" y="4146884"/>
            <a:ext cx="1123481" cy="5875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43ACAF-E9CF-C4D3-D3C0-98F5589DFF8C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99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F27B-1725-1E09-A0DF-9424CB92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1D3DA6-3CCB-9912-9499-B03BF7FBA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864"/>
            <a:ext cx="9119937" cy="745958"/>
          </a:xfrm>
        </p:spPr>
        <p:txBody>
          <a:bodyPr>
            <a:normAutofit/>
          </a:bodyPr>
          <a:lstStyle/>
          <a:p>
            <a:r>
              <a:rPr lang="en-US" dirty="0"/>
              <a:t>Setting Up a TMS Coil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DF751F1-CE6C-21CA-B3A4-B1994A9E8F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074821"/>
            <a:ext cx="4692316" cy="5285873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There are 3 ways to modify the coil position:</a:t>
            </a:r>
          </a:p>
          <a:p>
            <a:pPr marL="457200" indent="-457200">
              <a:buAutoNum type="arabicParenR"/>
            </a:pPr>
            <a:r>
              <a:rPr lang="en-US" sz="2400" dirty="0"/>
              <a:t>You can manually type the coil position (center of mass) and orientation.</a:t>
            </a:r>
            <a:endParaRPr lang="en-US" sz="2400" b="1" dirty="0"/>
          </a:p>
          <a:p>
            <a:pPr marL="457200" indent="-457200">
              <a:buAutoNum type="arabicParenR"/>
            </a:pPr>
            <a:r>
              <a:rPr lang="en-US" sz="2400" dirty="0"/>
              <a:t>You can click the coil and it will follow your cursor. Click it again to place the coil.</a:t>
            </a:r>
          </a:p>
          <a:p>
            <a:pPr marL="457200" indent="-457200">
              <a:buAutoNum type="arabicParenR"/>
            </a:pPr>
            <a:r>
              <a:rPr lang="en-US" sz="2400" dirty="0"/>
              <a:t>You can click “Place With White Matter” to select a target position on the white matter surface. Click “Apply” to automatically move the coil.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7D4AA-2252-10EF-22D0-FD3CB01D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4821"/>
            <a:ext cx="3832538" cy="4645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356DC7-61EA-AC39-122E-41304288A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8" y="809819"/>
            <a:ext cx="6016592" cy="5719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35F916-5D5D-F61D-3613-FE9290405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219" y="1339824"/>
            <a:ext cx="5500282" cy="5020870"/>
          </a:xfrm>
          <a:prstGeom prst="rect">
            <a:avLst/>
          </a:prstGeom>
        </p:spPr>
      </p:pic>
      <p:sp>
        <p:nvSpPr>
          <p:cNvPr id="10" name="Arrow: Up 9">
            <a:extLst>
              <a:ext uri="{FF2B5EF4-FFF2-40B4-BE49-F238E27FC236}">
                <a16:creationId xmlns:a16="http://schemas.microsoft.com/office/drawing/2014/main" id="{CC74C36B-0003-74F4-777B-91D00CDDB832}"/>
              </a:ext>
            </a:extLst>
          </p:cNvPr>
          <p:cNvSpPr/>
          <p:nvPr/>
        </p:nvSpPr>
        <p:spPr>
          <a:xfrm rot="4559627">
            <a:off x="7561906" y="1757681"/>
            <a:ext cx="280737" cy="568960"/>
          </a:xfrm>
          <a:prstGeom prst="upArrow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B88D37-56D3-C976-F7A2-8947382DE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330" y="701843"/>
            <a:ext cx="4544059" cy="566816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5A3252-EF7C-270D-AA14-77ED1C25602F}"/>
              </a:ext>
            </a:extLst>
          </p:cNvPr>
          <p:cNvCxnSpPr>
            <a:cxnSpLocks/>
          </p:cNvCxnSpPr>
          <p:nvPr/>
        </p:nvCxnSpPr>
        <p:spPr>
          <a:xfrm>
            <a:off x="4485671" y="5050856"/>
            <a:ext cx="1904969" cy="1815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00B61CB-7061-D958-1612-0C9378FEC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179" y="2247192"/>
            <a:ext cx="4962027" cy="4113502"/>
          </a:xfrm>
          <a:prstGeom prst="rect">
            <a:avLst/>
          </a:prstGeom>
        </p:spPr>
      </p:pic>
      <p:sp>
        <p:nvSpPr>
          <p:cNvPr id="22" name="Arrow: Up 21">
            <a:extLst>
              <a:ext uri="{FF2B5EF4-FFF2-40B4-BE49-F238E27FC236}">
                <a16:creationId xmlns:a16="http://schemas.microsoft.com/office/drawing/2014/main" id="{767A0277-C19C-8416-E759-1B1EC7B7E8BD}"/>
              </a:ext>
            </a:extLst>
          </p:cNvPr>
          <p:cNvSpPr/>
          <p:nvPr/>
        </p:nvSpPr>
        <p:spPr>
          <a:xfrm rot="6393278">
            <a:off x="8424653" y="4023967"/>
            <a:ext cx="280737" cy="559950"/>
          </a:xfrm>
          <a:prstGeom prst="upArrow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55532-FDC0-BB07-FA02-258D4AC45CFC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008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000000">
                                      <p:cBhvr>
                                        <p:cTn id="3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-0.03542 0.19537 " pathEditMode="relative" rAng="0" ptsTypes="AA">
                                      <p:cBhvr>
                                        <p:cTn id="33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9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1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  <p:bldP spid="10" grpId="0" uiExpand="1" animBg="1"/>
      <p:bldP spid="10" grpId="1" uiExpand="1" animBg="1"/>
      <p:bldP spid="10" grpId="2" uiExpand="1" animBg="1"/>
      <p:bldP spid="10" grpId="3" animBg="1"/>
      <p:bldP spid="22" grpId="2" uiExpan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6EB80-6290-257F-DB08-7F94258A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01BE3E-5005-4869-FEC7-132F1F8E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864"/>
            <a:ext cx="9119937" cy="745958"/>
          </a:xfrm>
        </p:spPr>
        <p:txBody>
          <a:bodyPr>
            <a:normAutofit/>
          </a:bodyPr>
          <a:lstStyle/>
          <a:p>
            <a:r>
              <a:rPr lang="en-US" dirty="0"/>
              <a:t>Setting Up a TMS Coil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E665F03-9CD0-E52A-E7B6-1933A013BB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074821"/>
            <a:ext cx="4692316" cy="5285873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We can add a second ring coil. Click “Add Coil” and click “Ok”. Click “Edit” to edit the coil position.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Move the coil near the first ring. Click “Flip Coil” to switch the coil orientation.</a:t>
            </a:r>
          </a:p>
          <a:p>
            <a:pPr marL="0" indent="0">
              <a:buNone/>
            </a:pPr>
            <a:r>
              <a:rPr lang="en-US" sz="2400" dirty="0"/>
              <a:t>*We need the orientation flipped to avoid negative interference of the induced fields.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6ECB9-17B8-3E40-D8D8-41F00FDC0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39" y="962113"/>
            <a:ext cx="6187441" cy="56584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03EDE3-F899-ECC3-E8DC-4503F1AE3D82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8428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3AA2-27F3-7B73-AC86-E6FCA5D4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EF427B-EBC4-45EF-13D8-AA6F5F6D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864"/>
            <a:ext cx="9119937" cy="745958"/>
          </a:xfrm>
        </p:spPr>
        <p:txBody>
          <a:bodyPr>
            <a:normAutofit/>
          </a:bodyPr>
          <a:lstStyle/>
          <a:p>
            <a:r>
              <a:rPr lang="en-US" dirty="0"/>
              <a:t>Setting Up Slice Planes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6CE968-F020-3359-1ED5-CED0F299A5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074821"/>
            <a:ext cx="4692316" cy="5285873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We can select slice planes to compute the total electric field over.</a:t>
            </a:r>
          </a:p>
          <a:p>
            <a:pPr marL="457200" indent="-457200">
              <a:buAutoNum type="arabicParenR"/>
            </a:pPr>
            <a:r>
              <a:rPr lang="en-US" sz="2400" dirty="0"/>
              <a:t>In the “Head Model Opacity” box, check the “WM” box. Then reduce the opacity of the “Skin”.</a:t>
            </a:r>
          </a:p>
          <a:p>
            <a:pPr marL="457200" indent="-457200">
              <a:buAutoNum type="arabicParenR"/>
            </a:pPr>
            <a:r>
              <a:rPr lang="en-US" sz="2400" dirty="0"/>
              <a:t>Click “Slice Planes”. Use the sliders to put the slice planes in your desired positions.</a:t>
            </a:r>
          </a:p>
          <a:p>
            <a:pPr marL="0" indent="0">
              <a:buNone/>
            </a:pPr>
            <a:r>
              <a:rPr lang="en-US" sz="2400" dirty="0"/>
              <a:t>*You can rotate the head model by clicking and dragging in the plot window. You may also click the coordinate views at the top.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D70F24-4007-CA0E-7715-4ECA6219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67317"/>
            <a:ext cx="4372585" cy="2934109"/>
          </a:xfrm>
          <a:prstGeom prst="rect">
            <a:avLst/>
          </a:prstGeom>
        </p:spPr>
      </p:pic>
      <p:sp>
        <p:nvSpPr>
          <p:cNvPr id="11" name="Arrow: Up 10">
            <a:extLst>
              <a:ext uri="{FF2B5EF4-FFF2-40B4-BE49-F238E27FC236}">
                <a16:creationId xmlns:a16="http://schemas.microsoft.com/office/drawing/2014/main" id="{B083D49C-10E8-0E10-EFBB-48B0F6FB0ED4}"/>
              </a:ext>
            </a:extLst>
          </p:cNvPr>
          <p:cNvSpPr/>
          <p:nvPr/>
        </p:nvSpPr>
        <p:spPr>
          <a:xfrm rot="5647234">
            <a:off x="5833853" y="2654396"/>
            <a:ext cx="280737" cy="559950"/>
          </a:xfrm>
          <a:prstGeom prst="upArrow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02D4DF86-902D-31D7-E192-CBB79087B189}"/>
              </a:ext>
            </a:extLst>
          </p:cNvPr>
          <p:cNvSpPr/>
          <p:nvPr/>
        </p:nvSpPr>
        <p:spPr>
          <a:xfrm rot="12529206">
            <a:off x="8262093" y="1912716"/>
            <a:ext cx="280737" cy="559950"/>
          </a:xfrm>
          <a:prstGeom prst="upArrow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CA70AF-FCD2-DB35-23BF-D4B9115E0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76" y="1074821"/>
            <a:ext cx="5802875" cy="5454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21A621-5844-6C67-C0BE-7E22E4657AA2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65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59AF-5CFE-3224-2E23-BE7342D9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C8F02D-6C4C-2FF9-1524-ADCBC96F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864"/>
            <a:ext cx="10728960" cy="745958"/>
          </a:xfrm>
        </p:spPr>
        <p:txBody>
          <a:bodyPr>
            <a:normAutofit/>
          </a:bodyPr>
          <a:lstStyle/>
          <a:p>
            <a:r>
              <a:rPr lang="en-US" dirty="0"/>
              <a:t>Saving and Running the TMS Solver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97319D9-6BDE-C379-AC16-BAA1D07977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983381"/>
            <a:ext cx="4692316" cy="5701899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Click “Save” to save the coil configuration file.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Then, click “Run TMS” and select the coil configuration file you just saved.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You may select how the data is saved, if desired. Click “Ok”.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command window will open and the TMS solver will automatically begin.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24840-D637-91BD-7D06-3CA5F7887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361" y="1155863"/>
            <a:ext cx="5069840" cy="1966340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FE91AA2D-A2CC-3382-71EF-FA7E0B1D1C3C}"/>
              </a:ext>
            </a:extLst>
          </p:cNvPr>
          <p:cNvSpPr/>
          <p:nvPr/>
        </p:nvSpPr>
        <p:spPr>
          <a:xfrm rot="4622746">
            <a:off x="5802537" y="2254944"/>
            <a:ext cx="280737" cy="559950"/>
          </a:xfrm>
          <a:prstGeom prst="upArrow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B40E5559-3FE9-5557-8AA9-E15482D8AD5F}"/>
              </a:ext>
            </a:extLst>
          </p:cNvPr>
          <p:cNvSpPr/>
          <p:nvPr/>
        </p:nvSpPr>
        <p:spPr>
          <a:xfrm rot="13814955">
            <a:off x="10588591" y="1423439"/>
            <a:ext cx="280737" cy="559950"/>
          </a:xfrm>
          <a:prstGeom prst="upArrow">
            <a:avLst/>
          </a:prstGeom>
          <a:solidFill>
            <a:srgbClr val="FF000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D494E7-B245-37F2-2C4F-A0B43A5D0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051" y="3352358"/>
            <a:ext cx="6270760" cy="3176778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919A8E-A8F0-51C3-9AA8-AC095849F6C0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607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14A7-F2CD-0CEB-0BD1-F68FF4EE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9D41DCC-3DDD-2F39-497D-96E8DD76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93" y="1371600"/>
            <a:ext cx="5419072" cy="429029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762A2A-9BF9-90D2-B30E-EC96D6AE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54481"/>
            <a:ext cx="8229601" cy="681839"/>
          </a:xfrm>
        </p:spPr>
        <p:txBody>
          <a:bodyPr>
            <a:normAutofit/>
          </a:bodyPr>
          <a:lstStyle/>
          <a:p>
            <a:r>
              <a:rPr lang="en-US" dirty="0"/>
              <a:t>The Results: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0BE21E-0295-2675-9A67-8AE902E28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90" y="4714240"/>
            <a:ext cx="2791873" cy="2143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0304E8-EA45-1007-0270-D29FF0B39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036320"/>
            <a:ext cx="3421044" cy="3429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1CDF88-7D17-7AE5-3096-D7B6ADBD2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735" y="3810561"/>
            <a:ext cx="3421044" cy="27836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484644-5CB4-B624-19C2-702718B605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4075" y="1247439"/>
            <a:ext cx="1867925" cy="180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7CD72A9-087B-D785-B3EF-C318BDB1D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079" y="1247439"/>
            <a:ext cx="1564995" cy="18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A6BFF3-99DA-D4B6-83D0-5C0E83914839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108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C2BE-E420-07AA-AFCC-9F6F7BAC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399B8F-5C73-1C6D-CDAA-8CF5930B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2472"/>
            <a:ext cx="10728960" cy="745958"/>
          </a:xfrm>
        </p:spPr>
        <p:txBody>
          <a:bodyPr>
            <a:normAutofit/>
          </a:bodyPr>
          <a:lstStyle/>
          <a:p>
            <a:r>
              <a:rPr lang="en-US" dirty="0"/>
              <a:t>Additional Features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1A8CD9C-6653-354C-AF00-6447B3B397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849162"/>
            <a:ext cx="11958320" cy="5730775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There are various coils and other features that you can mess around with!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49DDF4-07F0-AF47-6937-79681755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72" y="1409458"/>
            <a:ext cx="3635882" cy="24799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179C68-5431-F7E9-BF53-401C8C5C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" y="4100953"/>
            <a:ext cx="4057142" cy="24789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AE12E4-A87D-BCFE-5EB8-70C47DD03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485" y="1689235"/>
            <a:ext cx="2697350" cy="22514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F0D6A3-EC71-EF39-0CCA-8102B5F55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566" y="1780129"/>
            <a:ext cx="3454068" cy="16488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0EF375-C354-6F21-8DDA-FE1A279BF6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428" y="3800636"/>
            <a:ext cx="2695837" cy="28926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F637DC-E723-AE5E-C6D1-8882054B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988" y="4378584"/>
            <a:ext cx="3739204" cy="23147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C55A14-5F0C-287F-37F4-4B7F456E8760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7715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42E2-8B99-1A0B-8F89-C3AE2AD1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72D30C-A345-31A2-CBAF-5C838DB8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56021"/>
            <a:ext cx="10728960" cy="74595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58B5AC-7C08-9BD1-CD04-1F0F1C14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362" y="704024"/>
            <a:ext cx="3174988" cy="26501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E4C7F9-F4C0-FEBA-E5FC-0B53D2D4F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212" y="3752887"/>
            <a:ext cx="3656099" cy="28926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CDB502-7B74-FC01-42BF-B78C2BD55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60" y="412338"/>
            <a:ext cx="2681654" cy="26436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7FE6C4-7286-0FEC-761C-38CBB56EED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47" t="1395"/>
          <a:stretch>
            <a:fillRect/>
          </a:stretch>
        </p:blipFill>
        <p:spPr>
          <a:xfrm>
            <a:off x="1089351" y="3493475"/>
            <a:ext cx="3105660" cy="29334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25E9B5-8D9E-51AB-168B-65516312C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6297" y="704024"/>
            <a:ext cx="2358833" cy="19532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F22502-CABE-E046-B599-2E39848AB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474" y="4312983"/>
            <a:ext cx="2521241" cy="24219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33CCE5-8A16-A52B-0780-424EC6C3FE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89440"/>
            <a:ext cx="2098274" cy="22678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1194CA-E3E6-4085-8494-242271BB38A3}"/>
              </a:ext>
            </a:extLst>
          </p:cNvPr>
          <p:cNvSpPr txBox="1"/>
          <p:nvPr/>
        </p:nvSpPr>
        <p:spPr>
          <a:xfrm>
            <a:off x="5927558" y="-24063"/>
            <a:ext cx="626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Repository: </a:t>
            </a:r>
            <a:r>
              <a:rPr lang="en-US" b="1" dirty="0">
                <a:solidFill>
                  <a:schemeClr val="bg1"/>
                </a:solidFill>
              </a:rPr>
              <a:t>github.com/BEM-FMM-Team/</a:t>
            </a:r>
            <a:r>
              <a:rPr lang="en-US" b="1" dirty="0" err="1">
                <a:solidFill>
                  <a:schemeClr val="bg1"/>
                </a:solidFill>
              </a:rPr>
              <a:t>bem</a:t>
            </a:r>
            <a:r>
              <a:rPr lang="en-US" b="1" dirty="0">
                <a:solidFill>
                  <a:schemeClr val="bg1"/>
                </a:solidFill>
              </a:rPr>
              <a:t>-</a:t>
            </a:r>
            <a:r>
              <a:rPr lang="en-US" b="1" dirty="0" err="1">
                <a:solidFill>
                  <a:schemeClr val="bg1"/>
                </a:solidFill>
              </a:rPr>
              <a:t>fmm</a:t>
            </a:r>
            <a:r>
              <a:rPr lang="en-US" b="1" dirty="0">
                <a:solidFill>
                  <a:schemeClr val="bg1"/>
                </a:solidFill>
              </a:rPr>
              <a:t>-python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7812850"/>
      </p:ext>
    </p:extLst>
  </p:cSld>
  <p:clrMapOvr>
    <a:masterClrMapping/>
  </p:clrMapOvr>
</p:sld>
</file>

<file path=ppt/theme/theme1.xml><?xml version="1.0" encoding="utf-8"?>
<a:theme xmlns:a="http://schemas.openxmlformats.org/drawingml/2006/main" name="WPI">
  <a:themeElements>
    <a:clrScheme name="WPI">
      <a:dk1>
        <a:srgbClr val="000000"/>
      </a:dk1>
      <a:lt1>
        <a:srgbClr val="FFFFFF"/>
      </a:lt1>
      <a:dk2>
        <a:srgbClr val="000000"/>
      </a:dk2>
      <a:lt2>
        <a:srgbClr val="A9B0B7"/>
      </a:lt2>
      <a:accent1>
        <a:srgbClr val="AC2B37"/>
      </a:accent1>
      <a:accent2>
        <a:srgbClr val="A9B0B7"/>
      </a:accent2>
      <a:accent3>
        <a:srgbClr val="000000"/>
      </a:accent3>
      <a:accent4>
        <a:srgbClr val="AC2B37"/>
      </a:accent4>
      <a:accent5>
        <a:srgbClr val="000000"/>
      </a:accent5>
      <a:accent6>
        <a:srgbClr val="A9B0B7"/>
      </a:accent6>
      <a:hlink>
        <a:srgbClr val="0F9ED5"/>
      </a:hlink>
      <a:folHlink>
        <a:srgbClr val="0F9ED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PI" id="{6015B5D6-95B3-469C-8033-B9FFC1E00BB1}" vid="{962E8EF4-FAAD-48A7-8EFF-B7CE4493C7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WPI</Template>
  <TotalTime>18162</TotalTime>
  <Words>721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Consolas</vt:lpstr>
      <vt:lpstr>Wingdings</vt:lpstr>
      <vt:lpstr>WPI</vt:lpstr>
      <vt:lpstr>BEM-FMM in Python: Up and Running in 10 Minutes</vt:lpstr>
      <vt:lpstr>The Team:</vt:lpstr>
      <vt:lpstr>Downloading the Repository:</vt:lpstr>
      <vt:lpstr>Getting Started:</vt:lpstr>
      <vt:lpstr>What to Expect:</vt:lpstr>
      <vt:lpstr>Setting Up a TMS Coil</vt:lpstr>
      <vt:lpstr>Setting Up a TMS Coil</vt:lpstr>
      <vt:lpstr>Setting Up a TMS Coil</vt:lpstr>
      <vt:lpstr>Setting Up Slice Planes</vt:lpstr>
      <vt:lpstr>Saving and Running the TMS Solver</vt:lpstr>
      <vt:lpstr>The Results:</vt:lpstr>
      <vt:lpstr>Additional Features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Drumm, Derek</dc:creator>
  <cp:lastModifiedBy>Drumm, Derek</cp:lastModifiedBy>
  <cp:revision>127</cp:revision>
  <dcterms:created xsi:type="dcterms:W3CDTF">2026-01-28T01:49:14Z</dcterms:created>
  <dcterms:modified xsi:type="dcterms:W3CDTF">2026-08-01T14:49:48Z</dcterms:modified>
</cp:coreProperties>
</file>